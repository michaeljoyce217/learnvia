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Prompt"/>
      <p:bold r:id="rId14"/>
      <p:boldItalic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mpt-boldItalic.fntdata"/><Relationship Id="rId14" Type="http://schemas.openxmlformats.org/officeDocument/2006/relationships/font" Target="fonts/Prompt-bold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We're piloting an AI system that reviews educational content using the same standards as human reviewers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demonstration shows results from a real Power Series module - typical raw content from authors with rough edges and todo placeholders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947ab1db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9947ab1db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9947ab1db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94735b279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994735b279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Review: </a:t>
            </a:r>
            <a:r>
              <a:rPr lang="en-US"/>
              <a:t>Two-phase approach: First review pass focuses on pedagogy and style, second pass verifies fixes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Copy Edit: same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Four total passes mirror human workflow but execute in seconds instead of days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994735b279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94735b279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994735b279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30 specialized AI agents review independently to avoid groupthink - like having 30 experts simultaneously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Consensus building identifies real issues when 4+ agents flag the same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994735b279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Real trainee-authored content on radius and interval of convergence - deliberately unpolished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Perfect validation case because it represents actual draft quality we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Traditional human review takes hours with multi-day turnaround; AI completes in 8 seconds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System excels at catching mechanical issues that reviewers might miss while focusing on pedagogy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When 4+ agents independently flag the same issue, we have high confidence it's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Priority scoring (1-5) combines severity and consensus level to help authors focus on what matters most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Live demonstration of the HTML report showing all findings, consensus analysis, and prioritization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Authors can explore issues by category, see original content, and understand exactly what needs fixing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Live demonstration of the HTML report showing all findings, consensus analysis, and prioritization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Authors can explore issues by category, see original content, and understand exactly what needs fixing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hyperlink" Target="https://michaeljoyce217.github.io/LEARNVIA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58381" y="2122408"/>
            <a:ext cx="7620000" cy="90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0"/>
              <a:buFont typeface="Open Sans"/>
              <a:buNone/>
            </a:pPr>
            <a:r>
              <a:rPr b="1" lang="en-US" sz="281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 System Pilot Results</a:t>
            </a:r>
            <a:r>
              <a:rPr b="1" i="0" lang="en-US" sz="281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2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0"/>
              <a:buFont typeface="Open Sans"/>
              <a:buNone/>
            </a:pPr>
            <a:r>
              <a:rPr b="1" lang="en-US" sz="281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 Series Module Review Example</a:t>
            </a:r>
            <a:endParaRPr b="0" i="0" sz="2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233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233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314443" y="2343100"/>
            <a:ext cx="408300" cy="29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722715" y="2147200"/>
            <a:ext cx="1755300" cy="68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Kit: LOs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478048" y="2147200"/>
            <a:ext cx="1755300" cy="68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Module: KSAs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233362" y="2147200"/>
            <a:ext cx="1755300" cy="68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 Module: </a:t>
            </a:r>
            <a:r>
              <a:rPr lang="en-US"/>
              <a:t>Outline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988696" y="2147200"/>
            <a:ext cx="1755300" cy="68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 Module: </a:t>
            </a:r>
            <a:r>
              <a:rPr lang="en-US"/>
              <a:t>Flesh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620600" y="293925"/>
            <a:ext cx="5902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Module's authoring pipeline</a:t>
            </a:r>
            <a:endParaRPr sz="3300"/>
          </a:p>
        </p:txBody>
      </p:sp>
      <p:sp>
        <p:nvSpPr>
          <p:cNvPr id="34" name="Google Shape;34;p4"/>
          <p:cNvSpPr/>
          <p:nvPr/>
        </p:nvSpPr>
        <p:spPr>
          <a:xfrm>
            <a:off x="5796623" y="1858514"/>
            <a:ext cx="783900" cy="288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474407" y="1858517"/>
            <a:ext cx="783900" cy="288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984118" y="1853507"/>
            <a:ext cx="783900" cy="288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15937" y="1853498"/>
            <a:ext cx="783900" cy="288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744018" y="2343100"/>
            <a:ext cx="342900" cy="29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8986" y="1916200"/>
            <a:ext cx="183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Product vision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Authoring guidelines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Style guide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Academic r</a:t>
            </a:r>
            <a:r>
              <a:rPr lang="en-US" sz="1200">
                <a:solidFill>
                  <a:schemeClr val="dk1"/>
                </a:solidFill>
              </a:rPr>
              <a:t>esearch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...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625182" y="1510450"/>
            <a:ext cx="129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We are here</a:t>
            </a:r>
            <a:endParaRPr i="1"/>
          </a:p>
        </p:txBody>
      </p:sp>
      <p:sp>
        <p:nvSpPr>
          <p:cNvPr id="41" name="Google Shape;41;p4"/>
          <p:cNvSpPr txBox="1"/>
          <p:nvPr/>
        </p:nvSpPr>
        <p:spPr>
          <a:xfrm>
            <a:off x="2247223" y="1562200"/>
            <a:ext cx="9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3046625" y="249825"/>
            <a:ext cx="5812800" cy="48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rPr b="1" lang="en-US" sz="1817"/>
              <a:t>System Architecture Overview</a:t>
            </a:r>
            <a:endParaRPr b="1" sz="181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rPr b="1" lang="en-US" sz="1317"/>
              <a:t>Designed to emulate existing workflow</a:t>
            </a:r>
            <a:endParaRPr b="1" sz="1317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t/>
            </a:r>
            <a:endParaRPr b="1" sz="1317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rPr b="1" i="0" lang="en-US" sz="1317" u="none" cap="none" strike="noStrike">
                <a:solidFill>
                  <a:srgbClr val="000000"/>
                </a:solidFill>
              </a:rPr>
              <a:t>Two-Pass Reviewer Phase</a:t>
            </a:r>
            <a:endParaRPr b="1" i="0" sz="1317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t/>
            </a:r>
            <a:endParaRPr b="1" sz="1317"/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First, 30 AI agents run a comprehensive analysis focusing on pedagogy and style. </a:t>
            </a:r>
            <a:br>
              <a:rPr lang="en-US" sz="1151">
                <a:solidFill>
                  <a:schemeClr val="dk1"/>
                </a:solidFill>
              </a:rPr>
            </a:br>
            <a:endParaRPr sz="1151">
              <a:solidFill>
                <a:schemeClr val="dk1"/>
              </a:solidFill>
            </a:endParaRPr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Authors revise based on these results</a:t>
            </a:r>
            <a:br>
              <a:rPr lang="en-US" sz="1151">
                <a:solidFill>
                  <a:schemeClr val="dk1"/>
                </a:solidFill>
              </a:rPr>
            </a:br>
            <a:endParaRPr sz="1151">
              <a:solidFill>
                <a:schemeClr val="dk1"/>
              </a:solidFill>
            </a:endParaRPr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A second AI pass verifies fixes and detects new issues</a:t>
            </a:r>
            <a:br>
              <a:rPr lang="en-US" sz="1151">
                <a:solidFill>
                  <a:schemeClr val="dk1"/>
                </a:solidFill>
              </a:rPr>
            </a:br>
            <a:endParaRPr sz="1151">
              <a:solidFill>
                <a:schemeClr val="dk1"/>
              </a:solidFill>
            </a:endParaRPr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Results are sent to the author and reviewer.</a:t>
            </a:r>
            <a:endParaRPr b="1" sz="1317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t/>
            </a:r>
            <a:endParaRPr b="1" sz="131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7"/>
              <a:buFont typeface="Open Sans"/>
              <a:buNone/>
            </a:pPr>
            <a:r>
              <a:rPr b="1" lang="en-US" sz="1317">
                <a:solidFill>
                  <a:schemeClr val="dk1"/>
                </a:solidFill>
              </a:rPr>
              <a:t>Two-Pass Copy Editor Phase</a:t>
            </a:r>
            <a:endParaRPr b="1" sz="13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7"/>
              <a:buFont typeface="Open Sans"/>
              <a:buNone/>
            </a:pPr>
            <a:r>
              <a:t/>
            </a:r>
            <a:endParaRPr b="1" sz="1317">
              <a:solidFill>
                <a:schemeClr val="dk1"/>
              </a:solidFill>
            </a:endParaRPr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This is analogous to the process for the Reviewer Phase, but focusing only on style, and reporting out to the autor and the copy editor</a:t>
            </a:r>
            <a:endParaRPr sz="11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Font typeface="Open Sans"/>
              <a:buNone/>
            </a:pPr>
            <a:r>
              <a:t/>
            </a:r>
            <a:endParaRPr sz="11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7"/>
              <a:buFont typeface="Open Sans"/>
              <a:buNone/>
            </a:pPr>
            <a:r>
              <a:rPr b="1" lang="en-US" sz="1317">
                <a:solidFill>
                  <a:schemeClr val="dk1"/>
                </a:solidFill>
              </a:rPr>
              <a:t>Full 4-Pass Workflow</a:t>
            </a:r>
            <a:endParaRPr sz="11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Font typeface="Open Sans"/>
              <a:buNone/>
            </a:pPr>
            <a:r>
              <a:t/>
            </a:r>
            <a:endParaRPr sz="1151">
              <a:solidFill>
                <a:schemeClr val="dk1"/>
              </a:solidFill>
            </a:endParaRPr>
          </a:p>
          <a:p>
            <a:pPr indent="-301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"/>
              <a:buChar char="●"/>
            </a:pPr>
            <a:r>
              <a:rPr lang="en-US" sz="1151">
                <a:solidFill>
                  <a:schemeClr val="dk1"/>
                </a:solidFill>
              </a:rPr>
              <a:t>This layered approach moves from raw content to polished final material—progressively refining through pedagogical and stylistic lenses.</a:t>
            </a:r>
            <a:endParaRPr sz="11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7"/>
              <a:buFont typeface="Open Sans"/>
              <a:buNone/>
            </a:pPr>
            <a:r>
              <a:t/>
            </a:r>
            <a:endParaRPr b="1" sz="1317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7"/>
              <a:buFont typeface="Open Sans"/>
              <a:buNone/>
            </a:pPr>
            <a:r>
              <a:t/>
            </a:r>
            <a:endParaRPr b="1" sz="1317"/>
          </a:p>
        </p:txBody>
      </p:sp>
      <p:sp>
        <p:nvSpPr>
          <p:cNvPr id="48" name="Google Shape;48;p5"/>
          <p:cNvSpPr/>
          <p:nvPr/>
        </p:nvSpPr>
        <p:spPr>
          <a:xfrm>
            <a:off x="571700" y="1024675"/>
            <a:ext cx="2085300" cy="1627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71700" y="3212900"/>
            <a:ext cx="2085300" cy="1627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59000" y="1177125"/>
            <a:ext cx="1910700" cy="62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806150" y="1203525"/>
            <a:ext cx="1616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1st Review Pass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Results to Author</a:t>
            </a:r>
            <a:endParaRPr sz="1100"/>
          </a:p>
        </p:txBody>
      </p:sp>
      <p:sp>
        <p:nvSpPr>
          <p:cNvPr id="52" name="Google Shape;52;p5"/>
          <p:cNvSpPr txBox="1"/>
          <p:nvPr/>
        </p:nvSpPr>
        <p:spPr>
          <a:xfrm>
            <a:off x="386900" y="1678725"/>
            <a:ext cx="245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" name="Google Shape;53;p5"/>
          <p:cNvSpPr/>
          <p:nvPr/>
        </p:nvSpPr>
        <p:spPr>
          <a:xfrm>
            <a:off x="692675" y="1946975"/>
            <a:ext cx="1910700" cy="62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605375" y="1912725"/>
            <a:ext cx="20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2nd Review Pass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Results to Author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&amp; Reviewer</a:t>
            </a:r>
            <a:endParaRPr sz="1100"/>
          </a:p>
        </p:txBody>
      </p:sp>
      <p:sp>
        <p:nvSpPr>
          <p:cNvPr id="55" name="Google Shape;55;p5"/>
          <p:cNvSpPr/>
          <p:nvPr/>
        </p:nvSpPr>
        <p:spPr>
          <a:xfrm>
            <a:off x="659000" y="3318525"/>
            <a:ext cx="1910700" cy="62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59000" y="4092125"/>
            <a:ext cx="1910700" cy="62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2nd Review Pass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Results to Author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&amp; Copy Editor</a:t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725600" y="3348675"/>
            <a:ext cx="177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1st Review Pass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Results to Author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495400" y="2716825"/>
            <a:ext cx="237900" cy="43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05375" y="194850"/>
            <a:ext cx="2085300" cy="4002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518375" y="194850"/>
            <a:ext cx="22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Author submits module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495400" y="645000"/>
            <a:ext cx="237900" cy="329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2031925" y="76975"/>
            <a:ext cx="6946500" cy="50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Open Sans"/>
              <a:buNone/>
            </a:pPr>
            <a:r>
              <a:rPr b="1" lang="en-US" sz="1844">
                <a:solidFill>
                  <a:schemeClr val="dk1"/>
                </a:solidFill>
              </a:rPr>
              <a:t>1st Pass - Initial Review</a:t>
            </a:r>
            <a:endParaRPr b="1" sz="1844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Open Sans"/>
              <a:buNone/>
            </a:pPr>
            <a:r>
              <a:rPr b="1" lang="en-US" sz="1244">
                <a:solidFill>
                  <a:schemeClr val="dk1"/>
                </a:solidFill>
              </a:rPr>
              <a:t>Combines pedagogical and Style Analysis</a:t>
            </a:r>
            <a:endParaRPr b="1" sz="1244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6"/>
              <a:buFont typeface="Open Sans"/>
              <a:buNone/>
            </a:pPr>
            <a:r>
              <a:t/>
            </a:r>
            <a:endParaRPr sz="1256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b="1" lang="en-US" sz="1100">
                <a:solidFill>
                  <a:srgbClr val="2C3E50"/>
                </a:solidFill>
                <a:highlight>
                  <a:schemeClr val="lt1"/>
                </a:highlight>
              </a:rPr>
              <a:t>30 specialized agents</a:t>
            </a:r>
            <a:r>
              <a:rPr lang="en-US" sz="1100">
                <a:solidFill>
                  <a:srgbClr val="2C3E50"/>
                </a:solidFill>
                <a:highlight>
                  <a:schemeClr val="lt1"/>
                </a:highlight>
              </a:rPr>
              <a:t> review the content from different perspectives</a:t>
            </a:r>
            <a:r>
              <a:rPr lang="en-US" sz="11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(30 API calls)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Roboto"/>
              <a:buChar char="○"/>
            </a:pPr>
            <a:r>
              <a:rPr b="1" lang="en-US" sz="1100">
                <a:solidFill>
                  <a:srgbClr val="2C3E50"/>
                </a:solidFill>
              </a:rPr>
              <a:t>Multi-Agent Analysis:</a:t>
            </a:r>
            <a:r>
              <a:rPr lang="en-US" sz="1100">
                <a:solidFill>
                  <a:srgbClr val="2C3E50"/>
                </a:solidFill>
              </a:rPr>
              <a:t> 30 specialized agents review the content from different perspectives</a:t>
            </a:r>
            <a:endParaRPr sz="1100">
              <a:solidFill>
                <a:srgbClr val="2C3E50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Roboto"/>
              <a:buChar char="○"/>
            </a:pPr>
            <a:r>
              <a:rPr b="1" lang="en-US" sz="1100">
                <a:solidFill>
                  <a:srgbClr val="2C3E50"/>
                </a:solidFill>
              </a:rPr>
              <a:t>Layered Prompting:</a:t>
            </a:r>
            <a:r>
              <a:rPr lang="en-US" sz="1100">
                <a:solidFill>
                  <a:srgbClr val="2C3E50"/>
                </a:solidFill>
              </a:rPr>
              <a:t> Each agent receives layered instructions including exemplars, domain rules, and specific rubrics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Authoring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9 agents trained on individual rubrics created from the Authoring Guide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6 generalists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Style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9 agents trained on individual rubrics created from the Authoring Guide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6 generalists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Char char="●"/>
            </a:pPr>
            <a:r>
              <a:rPr b="1" lang="en-US" sz="1100">
                <a:solidFill>
                  <a:srgbClr val="2C3E50"/>
                </a:solidFill>
              </a:rPr>
              <a:t>Independent Review</a:t>
            </a:r>
            <a:endParaRPr b="1" sz="1100">
              <a:solidFill>
                <a:srgbClr val="2C3E50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Char char="○"/>
            </a:pPr>
            <a:r>
              <a:rPr lang="en-US" sz="1100">
                <a:solidFill>
                  <a:srgbClr val="2C3E50"/>
                </a:solidFill>
              </a:rPr>
              <a:t>Agents work independently to avoid groupthink</a:t>
            </a:r>
            <a:br>
              <a:rPr lang="en-US" sz="1100">
                <a:solidFill>
                  <a:srgbClr val="2C3E50"/>
                </a:solidFill>
              </a:rPr>
            </a:br>
            <a:endParaRPr sz="1100">
              <a:solidFill>
                <a:srgbClr val="2C3E5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rgbClr val="2C3E50"/>
                </a:solidFill>
                <a:highlight>
                  <a:schemeClr val="lt1"/>
                </a:highlight>
              </a:rPr>
              <a:t>Consensus Building</a:t>
            </a:r>
            <a:endParaRPr b="1" sz="110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rgbClr val="2C3E50"/>
                </a:solidFill>
                <a:highlight>
                  <a:schemeClr val="lt1"/>
                </a:highlight>
              </a:rPr>
              <a:t>Issues are aggregated and ranked by agreement level</a:t>
            </a:r>
            <a:endParaRPr sz="110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C3E50"/>
              </a:solidFill>
              <a:highlight>
                <a:srgbClr val="E7F3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Char char="●"/>
            </a:pPr>
            <a:r>
              <a:rPr b="1" lang="en-US" sz="1100">
                <a:solidFill>
                  <a:srgbClr val="2C3E50"/>
                </a:solidFill>
              </a:rPr>
              <a:t>Priority Scoring</a:t>
            </a:r>
            <a:endParaRPr b="1" sz="1100">
              <a:solidFill>
                <a:srgbClr val="2C3E50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Char char="○"/>
            </a:pPr>
            <a:r>
              <a:rPr lang="en-US" sz="1100">
                <a:solidFill>
                  <a:srgbClr val="2C3E50"/>
                </a:solidFill>
              </a:rPr>
              <a:t>Combined severity and consensus determine priority (1-5 scale)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6">
              <a:solidFill>
                <a:schemeClr val="dk1"/>
              </a:solidFill>
            </a:endParaRPr>
          </a:p>
        </p:txBody>
      </p:sp>
      <p:pic>
        <p:nvPicPr>
          <p:cNvPr id="68" name="Google Shape;6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4051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233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4304062" y="1697879"/>
            <a:ext cx="2302794" cy="992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53"/>
              <a:buFont typeface="Open Sans"/>
              <a:buNone/>
            </a:pPr>
            <a:r>
              <a:rPr b="1" i="0" lang="en-US" sz="2153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Module Overview: The Test Subject</a:t>
            </a:r>
            <a:endParaRPr b="0" i="0" sz="2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01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388221" y="966788"/>
            <a:ext cx="2525268" cy="309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97"/>
              <a:buFont typeface="Open Sans"/>
              <a:buNone/>
            </a:pPr>
            <a:r>
              <a:rPr b="0" i="0" lang="en-US" sz="1197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Teaches radius &amp; interval of convergence</a:t>
            </a:r>
            <a:endParaRPr b="0" i="0" sz="11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02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388221" y="1728788"/>
            <a:ext cx="2525268" cy="309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97"/>
              <a:buFont typeface="Open Sans"/>
              <a:buNone/>
            </a:pPr>
            <a:r>
              <a:rPr b="0" i="0" lang="en-US" sz="1197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3 learning activities with worked examples</a:t>
            </a:r>
            <a:endParaRPr b="0" i="0" sz="11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03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388221" y="2490788"/>
            <a:ext cx="2525268" cy="309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97"/>
              <a:buFont typeface="Open Sans"/>
              <a:buNone/>
            </a:pPr>
            <a:r>
              <a:rPr b="0" i="0" lang="en-US" sz="1197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Includes multiple-choice and short answers</a:t>
            </a:r>
            <a:endParaRPr b="0" i="0" sz="11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04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388221" y="3252788"/>
            <a:ext cx="2525268" cy="154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97"/>
              <a:buFont typeface="Open Sans"/>
              <a:buNone/>
            </a:pPr>
            <a:r>
              <a:rPr lang="en-US" sz="119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Trainee a</a:t>
            </a:r>
            <a:r>
              <a:rPr b="0" i="0" lang="en-US" sz="1197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uthor-submitted with </a:t>
            </a:r>
            <a:r>
              <a:rPr lang="en-US" sz="119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draft level of quality</a:t>
            </a:r>
            <a:endParaRPr b="0" i="0" sz="11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47662" y="3905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05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388221" y="4014788"/>
            <a:ext cx="2525268" cy="309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97"/>
              <a:buFont typeface="Open Sans"/>
              <a:buNone/>
            </a:pPr>
            <a:r>
              <a:rPr b="0" i="0" lang="en-US" sz="1197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Selected for mixed math &amp; pedagogy validation out of a </a:t>
            </a:r>
            <a:r>
              <a:rPr lang="en-US" sz="119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limited pool of raw author inputs</a:t>
            </a:r>
            <a:endParaRPr b="0" i="0" sz="11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9916" y="2586085"/>
            <a:ext cx="2329148" cy="232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1190625" y="357188"/>
            <a:ext cx="5715000" cy="287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84"/>
              <a:buFont typeface="Open Sans"/>
              <a:buNone/>
            </a:pPr>
            <a:r>
              <a:rPr b="1" i="0" lang="en-US" sz="1784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Processing Efficiency: Human vs AI</a:t>
            </a:r>
            <a:endParaRPr b="0" i="0" sz="1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714375" y="687700"/>
            <a:ext cx="52389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Open Sans"/>
              <a:buNone/>
            </a:pPr>
            <a:r>
              <a:rPr b="1" i="0" lang="en-US" sz="13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Traditional Review Cycle</a:t>
            </a:r>
            <a:br>
              <a:rPr b="1" i="0" lang="en-US" sz="13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i="0" sz="132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rPr lang="en-US" sz="133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human reviewer typically spends a significant amount of time to perform a first review, and authors can wait several days for feedback.</a:t>
            </a:r>
            <a:br>
              <a:rPr lang="en-US" sz="133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4"/>
              <a:buFont typeface="Open Sans"/>
              <a:buNone/>
            </a:pPr>
            <a:r>
              <a:rPr b="1" lang="en-US" sz="1324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 Performance Snapshot</a:t>
            </a:r>
            <a:endParaRPr sz="13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t/>
            </a: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rPr lang="en-US" sz="133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AI system completed the full review in just 8 seconds, identifying 18 consensus issues—especially strong on mechanical and structural problems.</a:t>
            </a: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t/>
            </a: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4"/>
              <a:buFont typeface="Open Sans"/>
              <a:buNone/>
            </a:pPr>
            <a:r>
              <a:rPr b="1" lang="en-US" sz="1324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Outcome: Time Saved</a:t>
            </a:r>
            <a:endParaRPr sz="13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t/>
            </a: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1"/>
              <a:buFont typeface="Open Sans"/>
              <a:buNone/>
            </a:pPr>
            <a:r>
              <a:rPr lang="en-US" sz="133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system enables instant feedback to the author, and on the second pass, a head start to the author and reviewer/copy editor.</a:t>
            </a:r>
            <a:endParaRPr sz="133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1333500"/>
            <a:ext cx="2356294" cy="235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2116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1190625" y="357188"/>
            <a:ext cx="5715000" cy="253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68"/>
              <a:buFont typeface="Open Sans"/>
              <a:buNone/>
            </a:pPr>
            <a:r>
              <a:rPr b="1" i="0" lang="en-US" sz="1568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Consensus Mechanism: High Confidence Signals</a:t>
            </a:r>
            <a:endParaRPr b="0" i="0" sz="1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14375" y="749750"/>
            <a:ext cx="5238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2"/>
              <a:buFont typeface="Open Sans"/>
              <a:buNone/>
            </a:pPr>
            <a:r>
              <a:rPr b="1" i="0" lang="en-US" sz="137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Issues with Agent Consensus</a:t>
            </a:r>
            <a:endParaRPr b="0" i="0" sz="13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714375" y="1033200"/>
            <a:ext cx="5238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b="0" i="0" lang="en-US" sz="12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system reached consensus (4+ agents) on 18 major issues like 'Todo' placeholders, vague references, missing IDs, and passive voice usage—clear signs of genuine flaws.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714375" y="1775325"/>
            <a:ext cx="5238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2"/>
              <a:buFont typeface="Open Sans"/>
              <a:buNone/>
            </a:pPr>
            <a:r>
              <a:rPr b="1" i="0" lang="en-US" sz="137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Consensus Works</a:t>
            </a:r>
            <a:endParaRPr b="0" i="0" sz="13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714375" y="2100350"/>
            <a:ext cx="5238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b="0" i="0" lang="en-US" sz="12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Multiple agents reviewing the same content independently spot the same issues. </a:t>
            </a:r>
            <a:endParaRPr b="0" i="0" sz="124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t/>
            </a:r>
            <a:endParaRPr sz="1247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b="0" i="0" lang="en-US" sz="12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four or more agree, the finding is marked as highly reliable.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714375" y="2929888"/>
            <a:ext cx="5238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2"/>
              <a:buFont typeface="Open Sans"/>
              <a:buNone/>
            </a:pPr>
            <a:r>
              <a:rPr b="1" i="0" lang="en-US" sz="137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This Matters</a:t>
            </a:r>
            <a:endParaRPr b="0" i="0" sz="13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14450" y="3202750"/>
            <a:ext cx="5238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b="0" i="0" lang="en-US" sz="12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High-confidence flags are trusted by authors, cutting through false positives and streamlining content fixes.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1333500"/>
            <a:ext cx="2359009" cy="23590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2116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768675" y="3692500"/>
            <a:ext cx="5238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2"/>
              <a:buFont typeface="Open Sans"/>
              <a:buNone/>
            </a:pPr>
            <a:r>
              <a:rPr b="1" lang="en-US" sz="1372">
                <a:latin typeface="Open Sans"/>
                <a:ea typeface="Open Sans"/>
                <a:cs typeface="Open Sans"/>
                <a:sym typeface="Open Sans"/>
              </a:rPr>
              <a:t>Prioritization</a:t>
            </a:r>
            <a:endParaRPr b="0" i="0" sz="13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768675" y="3956975"/>
            <a:ext cx="5238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lang="en-US" sz="1247">
                <a:latin typeface="Open Sans"/>
                <a:ea typeface="Open Sans"/>
                <a:cs typeface="Open Sans"/>
                <a:sym typeface="Open Sans"/>
              </a:rPr>
              <a:t>Each issue receives a priority score from 1 to 5 based on issue severity and level of agent consensus.</a:t>
            </a:r>
            <a:endParaRPr sz="1247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t/>
            </a:r>
            <a:endParaRPr sz="1247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Open Sans"/>
              <a:buNone/>
            </a:pPr>
            <a:r>
              <a:rPr lang="en-US" sz="1247">
                <a:latin typeface="Open Sans"/>
                <a:ea typeface="Open Sans"/>
                <a:cs typeface="Open Sans"/>
                <a:sym typeface="Open Sans"/>
              </a:rPr>
              <a:t>The system is fully explained at the bottom of the consensus issues tab of the output html.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329148" cy="23291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0"/>
          <p:cNvSpPr/>
          <p:nvPr/>
        </p:nvSpPr>
        <p:spPr>
          <a:xfrm>
            <a:off x="382953" y="2645092"/>
            <a:ext cx="428625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564690" y="3000375"/>
            <a:ext cx="6644545" cy="1223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3"/>
              <a:buFont typeface="Open Sans"/>
              <a:buNone/>
            </a:pPr>
            <a: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the  HTML report including issue categories, </a:t>
            </a: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consensus breakdowns, agent views, and original </a:t>
            </a: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content, visit:</a:t>
            </a: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83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https://michaeljoyce217.github.io/LEARNVIA/</a:t>
            </a: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0" i="0" lang="en-US" sz="10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0" i="0" sz="10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349460" y="2089404"/>
            <a:ext cx="2427065" cy="540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3"/>
              <a:buFont typeface="Open Sans"/>
              <a:buNone/>
            </a:pPr>
            <a:r>
              <a:rPr b="1" i="0" lang="en-US" sz="167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Review Model Results</a:t>
            </a:r>
            <a:endParaRPr b="0" i="0" sz="16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670929" y="2645092"/>
            <a:ext cx="1896809" cy="39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Open Sans"/>
              <a:buNone/>
            </a:pPr>
            <a:r>
              <a:rPr b="1" i="0" lang="en-US" sz="123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Explore the full interactive analysis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233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4304062" y="1697879"/>
            <a:ext cx="2302794" cy="851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38"/>
              <a:buFont typeface="Open Sans"/>
              <a:buNone/>
            </a:pPr>
            <a:r>
              <a:rPr b="1" i="0" lang="en-US" sz="2838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Paths to Production</a:t>
            </a:r>
            <a:endParaRPr b="0" i="0" sz="2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01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388221" y="966788"/>
            <a:ext cx="2525268" cy="311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6"/>
              <a:buFont typeface="Open Sans"/>
              <a:buNone/>
            </a:pPr>
            <a:r>
              <a:rPr b="0" i="0" lang="en-US" sz="1206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Run partial model in tandem with human reviewers</a:t>
            </a:r>
            <a:endParaRPr b="0" i="0" sz="12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02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388221" y="1728788"/>
            <a:ext cx="2525268" cy="311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6"/>
              <a:buFont typeface="Open Sans"/>
              <a:buNone/>
            </a:pPr>
            <a:r>
              <a:rPr b="0" i="0" lang="en-US" sz="1206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Compare AI and human results for alignment</a:t>
            </a:r>
            <a:endParaRPr b="0" i="0" sz="12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03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1388221" y="2490788"/>
            <a:ext cx="2525268" cy="311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6"/>
              <a:buFont typeface="Open Sans"/>
              <a:buNone/>
            </a:pPr>
            <a:r>
              <a:rPr b="0" i="0" lang="en-US" sz="1206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Engineer and finalize model architecture with API calls</a:t>
            </a:r>
            <a:endParaRPr b="0" i="0" sz="12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93"/>
              <a:buFont typeface="Prompt"/>
              <a:buNone/>
            </a:pPr>
            <a:r>
              <a:rPr b="1" i="0" lang="en-US" sz="1493" u="none" cap="none" strike="noStrike">
                <a:solidFill>
                  <a:srgbClr val="333333"/>
                </a:solidFill>
                <a:latin typeface="Prompt"/>
                <a:ea typeface="Prompt"/>
                <a:cs typeface="Prompt"/>
                <a:sym typeface="Prompt"/>
              </a:rPr>
              <a:t>04</a:t>
            </a:r>
            <a:endParaRPr b="0" i="0" sz="14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1388221" y="3252788"/>
            <a:ext cx="2525268" cy="155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6"/>
              <a:buFont typeface="Open Sans"/>
              <a:buNone/>
            </a:pPr>
            <a:r>
              <a:rPr b="0" i="0" lang="en-US" sz="1206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Advance to other Learnvia AI projects concurrently</a:t>
            </a:r>
            <a:endParaRPr b="0" i="0" sz="12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9916" y="2586085"/>
            <a:ext cx="2329148" cy="232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